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15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  
  
  
  <Relationship Id="rId15" Type="http://schemas.openxmlformats.org/officeDocument/2006/relationships/slide" Target="slides/slide9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5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5.png"/><Relationship Id="rId8" Type="http://schemas.openxmlformats.org/officeDocument/2006/relationships/image" Target="../media/image-9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1463040"/>
            <a:ext cx="4754880" cy="4754880"/>
          </a:xfrm>
          <a:prstGeom prst="ellipse">
            <a:avLst/>
          </a:prstGeom>
          <a:solidFill>
            <a:srgbClr val="24365E"/>
          </a:solidFill>
          <a:ln/>
        </p:spPr>
      </p:sp>
      <p:sp>
        <p:nvSpPr>
          <p:cNvPr id="3" name="Shape 1"/>
          <p:cNvSpPr/>
          <p:nvPr/>
        </p:nvSpPr>
        <p:spPr>
          <a:xfrm>
            <a:off x="9859975" y="-685800"/>
            <a:ext cx="3200400" cy="3200400"/>
          </a:xfrm>
          <a:prstGeom prst="ellipse">
            <a:avLst/>
          </a:prstGeom>
          <a:solidFill>
            <a:srgbClr val="2E4270"/>
          </a:solidFill>
          <a:ln/>
        </p:spPr>
      </p:sp>
      <p:sp>
        <p:nvSpPr>
          <p:cNvPr id="4" name="Shape 2"/>
          <p:cNvSpPr/>
          <p:nvPr/>
        </p:nvSpPr>
        <p:spPr>
          <a:xfrm>
            <a:off x="10500055" y="-45720"/>
            <a:ext cx="1920240" cy="1920240"/>
          </a:xfrm>
          <a:prstGeom prst="ellipse">
            <a:avLst/>
          </a:prstGeom>
          <a:ln w="31750">
            <a:solidFill>
              <a:srgbClr val="FF4C2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74375" y="228600"/>
            <a:ext cx="1371600" cy="1371600"/>
          </a:xfrm>
          <a:prstGeom prst="ellipse">
            <a:avLst/>
          </a:prstGeom>
          <a:solidFill>
            <a:srgbClr val="FF4C2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HACKINDIA 2026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783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AcciSense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803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Accident Emergency Response &amp; Automated Escalation System</a:t>
            </a:r>
            <a:endParaRPr lang="en-US" sz="1800" dirty="0"/>
          </a:p>
        </p:txBody>
      </p:sp>
      <p:pic>
        <p:nvPicPr>
          <p:cNvPr id="9" name="Image 0" descr="/home/claude/icons/satellite_FF4C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9776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11480" y="44165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39593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C5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pic>
        <p:nvPicPr>
          <p:cNvPr id="12" name="Image 1" descr="/home/claude/icons/brain_FF4C2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39776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828800" y="44165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2377440" y="39593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C5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pic>
        <p:nvPicPr>
          <p:cNvPr id="15" name="Image 2" descr="/home/claude/icons/paperplane_FF4C2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39776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246120" y="44165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3794760" y="39593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C5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pic>
        <p:nvPicPr>
          <p:cNvPr id="18" name="Image 3" descr="/home/claude/icons/levelup_FF4C2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97764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663440" y="44165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100" dirty="0"/>
          </a:p>
        </p:txBody>
      </p:sp>
      <p:sp>
        <p:nvSpPr>
          <p:cNvPr id="20" name="Text 14"/>
          <p:cNvSpPr txBox="1"/>
          <p:nvPr/>
        </p:nvSpPr>
        <p:spPr>
          <a:xfrm>
            <a:off x="5212080" y="39593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C5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pic>
        <p:nvPicPr>
          <p:cNvPr id="21" name="Image 4" descr="/home/claude/icons/shield_FF4C2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97764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080760" y="44165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548640" y="5349240"/>
            <a:ext cx="2788920" cy="621792"/>
          </a:xfrm>
          <a:prstGeom prst="roundRect">
            <a:avLst>
              <a:gd name="adj" fmla="val 11765"/>
            </a:avLst>
          </a:prstGeom>
          <a:solidFill>
            <a:srgbClr val="FF4C2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548640" y="5349240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RUNTIME TERROR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3611880" y="5349240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Category: Software  |  Theme: Disaster Management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6070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88820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/home/claude/icons/networ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20827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20240" y="18562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4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874520" y="213055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Fragmented, Manual Dispatch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874520" y="253288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 relies on fragmented, multi-channel reporting, causing catastrophic delays during traffic and structural accidents.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3364992"/>
            <a:ext cx="106070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662172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2" name="Image 1" descr="/home/claude/icons/bellslash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3881628"/>
            <a:ext cx="384048" cy="3840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920240" y="352958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4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874520" y="3803904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Escalation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1874520" y="420624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systems lack state-aware mechanics to automatically scale up unacknowledged critical alerts to fallback authorities.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48640" y="5038344"/>
            <a:ext cx="106070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5335524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8" name="Image 2" descr="/home/claude/icons/databas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5554980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920240" y="520293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4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1874520" y="547725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Compliance Records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1874520" y="587959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databases are vulnerable to manipulation or erasure, undermining transparent audits for civic and insurance accountability.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AcciSense  |  Team Runtime Terror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1127729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IDEA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 — AcciSense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end-to-end, autonomous pipeline that ingests accident signals, classifies severity with AI, and drives alerts through an enforced SLA escalation ladder — entirely eliminating manual dispatch delays.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975104" cy="30632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542032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7" name="Image 0" descr="/home/claude/icons/satellit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88336"/>
            <a:ext cx="347472" cy="3474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020824" y="23774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7C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68096" y="333756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Ingestion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768096" y="3822192"/>
            <a:ext cx="1536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FastAPI gateway ingests signals from citizen SOS reports, IoT crash sensors, and partner feeds in real time.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468880" y="3689604"/>
            <a:ext cx="256032" cy="256032"/>
          </a:xfrm>
          <a:prstGeom prst="rightArrow">
            <a:avLst/>
          </a:prstGeom>
          <a:solidFill>
            <a:srgbClr val="FF4C29"/>
          </a:solidFill>
          <a:ln/>
        </p:spPr>
      </p:sp>
      <p:sp>
        <p:nvSpPr>
          <p:cNvPr id="12" name="Shape 9"/>
          <p:cNvSpPr/>
          <p:nvPr/>
        </p:nvSpPr>
        <p:spPr>
          <a:xfrm>
            <a:off x="2642616" y="2286000"/>
            <a:ext cx="1975104" cy="30632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862072" y="2542032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4" name="Image 1" descr="/home/claude/icons/brain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376" y="2688336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114800" y="23774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7C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2862072" y="333756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Orchestration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2862072" y="3822192"/>
            <a:ext cx="1536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microservice + AI node classify the accident and score confidence.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562856" y="3689604"/>
            <a:ext cx="256032" cy="256032"/>
          </a:xfrm>
          <a:prstGeom prst="rightArrow">
            <a:avLst/>
          </a:prstGeom>
          <a:solidFill>
            <a:srgbClr val="FF4C29"/>
          </a:solidFill>
          <a:ln/>
        </p:spPr>
      </p:sp>
      <p:sp>
        <p:nvSpPr>
          <p:cNvPr id="19" name="Shape 15"/>
          <p:cNvSpPr/>
          <p:nvPr/>
        </p:nvSpPr>
        <p:spPr>
          <a:xfrm>
            <a:off x="4736592" y="2286000"/>
            <a:ext cx="1975104" cy="30632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956048" y="2542032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1" name="Image 2" descr="/home/claude/icons/cod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352" y="2688336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208776" y="23774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7C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4956048" y="333756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1450" dirty="0"/>
          </a:p>
        </p:txBody>
      </p:sp>
      <p:sp>
        <p:nvSpPr>
          <p:cNvPr id="24" name="Text 19"/>
          <p:cNvSpPr txBox="1"/>
          <p:nvPr/>
        </p:nvSpPr>
        <p:spPr>
          <a:xfrm>
            <a:off x="4956048" y="3822192"/>
            <a:ext cx="1536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mapped into structured JSON schemas for downstream use.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656832" y="3689604"/>
            <a:ext cx="256032" cy="256032"/>
          </a:xfrm>
          <a:prstGeom prst="rightArrow">
            <a:avLst/>
          </a:prstGeom>
          <a:solidFill>
            <a:srgbClr val="FF4C29"/>
          </a:solidFill>
          <a:ln/>
        </p:spPr>
      </p:sp>
      <p:sp>
        <p:nvSpPr>
          <p:cNvPr id="26" name="Shape 21"/>
          <p:cNvSpPr/>
          <p:nvPr/>
        </p:nvSpPr>
        <p:spPr>
          <a:xfrm>
            <a:off x="6830568" y="2286000"/>
            <a:ext cx="1975104" cy="30632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050024" y="2542032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8" name="Image 3" descr="/home/claude/icons/paperplan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6328" y="2688336"/>
            <a:ext cx="347472" cy="34747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8302752" y="23774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7C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7050024" y="333756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Alerting</a:t>
            </a:r>
            <a:endParaRPr lang="en-US" sz="1450" dirty="0"/>
          </a:p>
        </p:txBody>
      </p:sp>
      <p:sp>
        <p:nvSpPr>
          <p:cNvPr id="31" name="Text 25"/>
          <p:cNvSpPr txBox="1"/>
          <p:nvPr/>
        </p:nvSpPr>
        <p:spPr>
          <a:xfrm>
            <a:off x="7050024" y="3822192"/>
            <a:ext cx="1536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Telegram Bot webhooks simulate a live control room.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8750808" y="3689604"/>
            <a:ext cx="256032" cy="256032"/>
          </a:xfrm>
          <a:prstGeom prst="rightArrow">
            <a:avLst/>
          </a:prstGeom>
          <a:solidFill>
            <a:srgbClr val="FF4C29"/>
          </a:solidFill>
          <a:ln/>
        </p:spPr>
      </p:sp>
      <p:sp>
        <p:nvSpPr>
          <p:cNvPr id="33" name="Shape 27"/>
          <p:cNvSpPr/>
          <p:nvPr/>
        </p:nvSpPr>
        <p:spPr>
          <a:xfrm>
            <a:off x="8924544" y="2286000"/>
            <a:ext cx="1975104" cy="30632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9144000" y="2542032"/>
            <a:ext cx="640080" cy="640080"/>
          </a:xfrm>
          <a:prstGeom prst="ellipse">
            <a:avLst/>
          </a:prstGeom>
          <a:solidFill>
            <a:srgbClr val="FF4C29"/>
          </a:solidFill>
          <a:ln/>
        </p:spPr>
      </p:sp>
      <p:pic>
        <p:nvPicPr>
          <p:cNvPr id="35" name="Image 4" descr="/home/claude/icons/levelup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0304" y="2688336"/>
            <a:ext cx="347472" cy="347472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10396728" y="23774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7C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7" name="Text 30"/>
          <p:cNvSpPr txBox="1"/>
          <p:nvPr/>
        </p:nvSpPr>
        <p:spPr>
          <a:xfrm>
            <a:off x="9144000" y="333756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Escalation</a:t>
            </a:r>
            <a:endParaRPr lang="en-US" sz="1450" dirty="0"/>
          </a:p>
        </p:txBody>
      </p:sp>
      <p:sp>
        <p:nvSpPr>
          <p:cNvPr id="38" name="Text 31"/>
          <p:cNvSpPr txBox="1"/>
          <p:nvPr/>
        </p:nvSpPr>
        <p:spPr>
          <a:xfrm>
            <a:off x="9144000" y="3822192"/>
            <a:ext cx="1536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Unacknowledged critical alerts auto-escalate to higher authorities.</a:t>
            </a:r>
            <a:endParaRPr lang="en-US" sz="1150" dirty="0"/>
          </a:p>
        </p:txBody>
      </p:sp>
      <p:sp>
        <p:nvSpPr>
          <p:cNvPr id="39" name="Shape 32"/>
          <p:cNvSpPr/>
          <p:nvPr/>
        </p:nvSpPr>
        <p:spPr>
          <a:xfrm>
            <a:off x="548640" y="5623560"/>
            <a:ext cx="10607040" cy="6858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pic>
        <p:nvPicPr>
          <p:cNvPr id="40" name="Image 5" descr="/home/claude/icons/bolt_FF4C2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97296"/>
            <a:ext cx="329184" cy="329184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1234440" y="562356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4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35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to escalation runs end-to-end with zero manual coordination — the entire chain above is autonomous.</a:t>
            </a:r>
            <a:endParaRPr lang="en-US" sz="1350" dirty="0"/>
          </a:p>
        </p:txBody>
      </p:sp>
      <p:sp>
        <p:nvSpPr>
          <p:cNvPr id="42" name="Text 34"/>
          <p:cNvSpPr txBox="1"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AcciSense  |  Team Runtime Terror</a:t>
            </a:r>
            <a:endParaRPr lang="en-US" sz="1100" dirty="0"/>
          </a:p>
        </p:txBody>
      </p:sp>
      <p:sp>
        <p:nvSpPr>
          <p:cNvPr id="43" name="Text 35"/>
          <p:cNvSpPr txBox="1"/>
          <p:nvPr/>
        </p:nvSpPr>
        <p:spPr>
          <a:xfrm>
            <a:off x="1127729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 &amp; Challenges Overcome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4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874520" cy="1234440"/>
          </a:xfrm>
          <a:prstGeom prst="roundRect">
            <a:avLst>
              <a:gd name="adj" fmla="val 4444"/>
            </a:avLst>
          </a:prstGeom>
          <a:solidFill>
            <a:srgbClr val="1B2A4A"/>
          </a:solidFill>
          <a:ln/>
        </p:spPr>
      </p:sp>
      <p:pic>
        <p:nvPicPr>
          <p:cNvPr id="6" name="Image 0" descr="/home/claude/icons/satellit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2164" y="1929384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1792" y="2331720"/>
            <a:ext cx="1728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2404872" y="22174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606040" y="1783080"/>
            <a:ext cx="1874520" cy="1234440"/>
          </a:xfrm>
          <a:prstGeom prst="roundRect">
            <a:avLst>
              <a:gd name="adj" fmla="val 4444"/>
            </a:avLst>
          </a:prstGeom>
          <a:solidFill>
            <a:srgbClr val="1B2A4A"/>
          </a:solidFill>
          <a:ln/>
        </p:spPr>
      </p:sp>
      <p:pic>
        <p:nvPicPr>
          <p:cNvPr id="10" name="Image 1" descr="/home/claude/icons/brain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9564" y="192938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79192" y="2331720"/>
            <a:ext cx="1728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462272" y="22174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4663440" y="1783080"/>
            <a:ext cx="1874520" cy="1234440"/>
          </a:xfrm>
          <a:prstGeom prst="roundRect">
            <a:avLst>
              <a:gd name="adj" fmla="val 4444"/>
            </a:avLst>
          </a:prstGeom>
          <a:solidFill>
            <a:srgbClr val="1B2A4A"/>
          </a:solidFill>
          <a:ln/>
        </p:spPr>
      </p:sp>
      <p:pic>
        <p:nvPicPr>
          <p:cNvPr id="14" name="Image 2" descr="/home/claude/icons/cod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6964" y="1929384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736592" y="2331720"/>
            <a:ext cx="1728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Parsing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Scoring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519672" y="22174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6720840" y="1783080"/>
            <a:ext cx="1874520" cy="1234440"/>
          </a:xfrm>
          <a:prstGeom prst="roundRect">
            <a:avLst>
              <a:gd name="adj" fmla="val 4444"/>
            </a:avLst>
          </a:prstGeom>
          <a:solidFill>
            <a:srgbClr val="1B2A4A"/>
          </a:solidFill>
          <a:ln/>
        </p:spPr>
      </p:sp>
      <p:pic>
        <p:nvPicPr>
          <p:cNvPr id="18" name="Image 3" descr="/home/claude/icons/paperplan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4364" y="1929384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793992" y="2331720"/>
            <a:ext cx="1728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Alerts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8577072" y="22174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5"/>
          <p:cNvSpPr/>
          <p:nvPr/>
        </p:nvSpPr>
        <p:spPr>
          <a:xfrm>
            <a:off x="8778240" y="1783080"/>
            <a:ext cx="1874520" cy="1234440"/>
          </a:xfrm>
          <a:prstGeom prst="roundRect">
            <a:avLst>
              <a:gd name="adj" fmla="val 4444"/>
            </a:avLst>
          </a:prstGeom>
          <a:solidFill>
            <a:srgbClr val="FF4C29"/>
          </a:solidFill>
          <a:ln/>
        </p:spPr>
      </p:sp>
      <p:pic>
        <p:nvPicPr>
          <p:cNvPr id="22" name="Image 4" descr="/home/claude/icons/levelup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1764" y="1929384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851392" y="2331720"/>
            <a:ext cx="1728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SLA-Based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548640" y="3429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4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 &amp; OVERCOME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548640" y="3794760"/>
            <a:ext cx="516636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804672" y="4050792"/>
            <a:ext cx="566928" cy="566928"/>
          </a:xfrm>
          <a:prstGeom prst="ellipse">
            <a:avLst/>
          </a:prstGeom>
          <a:solidFill>
            <a:srgbClr val="FDEEE9"/>
          </a:solidFill>
          <a:ln/>
        </p:spPr>
      </p:sp>
      <p:pic>
        <p:nvPicPr>
          <p:cNvPr id="27" name="Image 5" descr="/home/claude/icons/warning_FF4C2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4178808"/>
            <a:ext cx="310896" cy="310896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554480" y="40873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Webhook Payloads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804672" y="4800600"/>
            <a:ext cx="4654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Multiline raw text from webhook callbacks broke raw syntax constraints inside our text compilers. Fixed with clean string-extraction pipelines in n8n that separate input text from formatting nodes before execution.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5989320" y="3794760"/>
            <a:ext cx="516636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6245352" y="4050792"/>
            <a:ext cx="566928" cy="566928"/>
          </a:xfrm>
          <a:prstGeom prst="ellipse">
            <a:avLst/>
          </a:prstGeom>
          <a:solidFill>
            <a:srgbClr val="FDEEE9"/>
          </a:solidFill>
          <a:ln/>
        </p:spPr>
      </p:sp>
      <p:pic>
        <p:nvPicPr>
          <p:cNvPr id="32" name="Image 6" descr="/home/claude/icons/link_FF4C29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3368" y="4178808"/>
            <a:ext cx="310896" cy="310896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6995160" y="40873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Web2 Speed with Web3 Immutability</a:t>
            </a:r>
            <a:endParaRPr lang="en-US" sz="1500" dirty="0"/>
          </a:p>
        </p:txBody>
      </p:sp>
      <p:sp>
        <p:nvSpPr>
          <p:cNvPr id="34" name="Text 25"/>
          <p:cNvSpPr txBox="1"/>
          <p:nvPr/>
        </p:nvSpPr>
        <p:spPr>
          <a:xfrm>
            <a:off x="6245352" y="4800600"/>
            <a:ext cx="4654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high-velocity infrastructure (database clusters, REST gateways) to decentralized, peer-to-peer file states risked blocking. Solved with asynchronous webhook loops that keep live communication fast.</a:t>
            </a:r>
            <a:endParaRPr lang="en-US" sz="1250" dirty="0"/>
          </a:p>
        </p:txBody>
      </p:sp>
      <p:sp>
        <p:nvSpPr>
          <p:cNvPr id="35" name="Text 26"/>
          <p:cNvSpPr txBox="1"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AcciSense  |  Team Runtime Terror</a:t>
            </a:r>
            <a:endParaRPr lang="en-US" sz="1100" dirty="0"/>
          </a:p>
        </p:txBody>
      </p:sp>
      <p:sp>
        <p:nvSpPr>
          <p:cNvPr id="36" name="Text 27"/>
          <p:cNvSpPr txBox="1"/>
          <p:nvPr/>
        </p:nvSpPr>
        <p:spPr>
          <a:xfrm>
            <a:off x="1127729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TRANSPARENCY &amp; IMPACT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Web3 Integration &amp; Impact / Benefits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FF4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AUDIT LOG (WEB3)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440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incident parameters, operator response times, and routing paths are compiled into a standardized JSON object and pushed to IPFS via Pinata — generating a permanent, tamper-proof CID hash. The CID is written back to Supabase for programmatic verification via Swagger UI.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1261872" cy="109728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</p:spPr>
      </p:sp>
      <p:pic>
        <p:nvPicPr>
          <p:cNvPr id="7" name="Image 0" descr="/home/claude/icons/cod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3374136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94360" y="372160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783080" y="3721608"/>
            <a:ext cx="201168" cy="146304"/>
          </a:xfrm>
          <a:prstGeom prst="rightArrow">
            <a:avLst/>
          </a:prstGeom>
          <a:solidFill>
            <a:srgbClr val="8892A8"/>
          </a:solidFill>
          <a:ln/>
        </p:spPr>
      </p:sp>
      <p:sp>
        <p:nvSpPr>
          <p:cNvPr id="10" name="Shape 7"/>
          <p:cNvSpPr/>
          <p:nvPr/>
        </p:nvSpPr>
        <p:spPr>
          <a:xfrm>
            <a:off x="1938528" y="3246120"/>
            <a:ext cx="1261872" cy="109728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</p:spPr>
      </p:sp>
      <p:pic>
        <p:nvPicPr>
          <p:cNvPr id="11" name="Image 1" descr="/home/claude/icons/serve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337413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84248" y="372160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 via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Pinata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172968" y="3721608"/>
            <a:ext cx="201168" cy="146304"/>
          </a:xfrm>
          <a:prstGeom prst="rightArrow">
            <a:avLst/>
          </a:prstGeom>
          <a:solidFill>
            <a:srgbClr val="8892A8"/>
          </a:solidFill>
          <a:ln/>
        </p:spPr>
      </p:sp>
      <p:sp>
        <p:nvSpPr>
          <p:cNvPr id="14" name="Shape 10"/>
          <p:cNvSpPr/>
          <p:nvPr/>
        </p:nvSpPr>
        <p:spPr>
          <a:xfrm>
            <a:off x="3328416" y="3246120"/>
            <a:ext cx="1261872" cy="1097280"/>
          </a:xfrm>
          <a:prstGeom prst="roundRect">
            <a:avLst>
              <a:gd name="adj" fmla="val 5000"/>
            </a:avLst>
          </a:prstGeom>
          <a:solidFill>
            <a:srgbClr val="FF4C29"/>
          </a:solidFill>
          <a:ln/>
        </p:spPr>
      </p:sp>
      <p:pic>
        <p:nvPicPr>
          <p:cNvPr id="15" name="Image 2" descr="/home/claude/icons/lo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048" y="337413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374136" y="372160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 Hash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562856" y="3721608"/>
            <a:ext cx="201168" cy="146304"/>
          </a:xfrm>
          <a:prstGeom prst="rightArrow">
            <a:avLst/>
          </a:prstGeom>
          <a:solidFill>
            <a:srgbClr val="8892A8"/>
          </a:solidFill>
          <a:ln/>
        </p:spPr>
      </p:sp>
      <p:sp>
        <p:nvSpPr>
          <p:cNvPr id="18" name="Shape 13"/>
          <p:cNvSpPr/>
          <p:nvPr/>
        </p:nvSpPr>
        <p:spPr>
          <a:xfrm>
            <a:off x="4718304" y="3246120"/>
            <a:ext cx="1261872" cy="109728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</p:spPr>
      </p:sp>
      <p:pic>
        <p:nvPicPr>
          <p:cNvPr id="19" name="Image 3" descr="/home/claude/icons/shiel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2936" y="3374136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764024" y="372160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+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48640" y="4709160"/>
            <a:ext cx="54406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pic>
        <p:nvPicPr>
          <p:cNvPr id="22" name="Image 4" descr="/home/claude/icons/shield_FF4C2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937760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325880" y="4828032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take our word for.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independently verify a CID against Supabase via Swagger UI — no trust required.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355080" y="1508760"/>
            <a:ext cx="0" cy="461772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662940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FF4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BENEFITS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629400" y="1938528"/>
            <a:ext cx="438912" cy="438912"/>
          </a:xfrm>
          <a:prstGeom prst="ellipse">
            <a:avLst/>
          </a:prstGeom>
          <a:solidFill>
            <a:srgbClr val="FDEEE9"/>
          </a:solidFill>
          <a:ln/>
        </p:spPr>
      </p:sp>
      <p:pic>
        <p:nvPicPr>
          <p:cNvPr id="27" name="Image 5" descr="/home/claude/icons/bolt_FF4C2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9984" y="2039112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223760" y="18928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Emergency Response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7223760" y="226771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manual coordination delays via a fully autonomous alert pipeline.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6629400" y="2990088"/>
            <a:ext cx="438912" cy="438912"/>
          </a:xfrm>
          <a:prstGeom prst="ellipse">
            <a:avLst/>
          </a:prstGeom>
          <a:solidFill>
            <a:srgbClr val="FDEEE9"/>
          </a:solidFill>
          <a:ln/>
        </p:spPr>
      </p:sp>
      <p:pic>
        <p:nvPicPr>
          <p:cNvPr id="31" name="Image 6" descr="/home/claude/icons/shield_FF4C29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9984" y="3090672"/>
            <a:ext cx="237744" cy="237744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7223760" y="29443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Accountability</a:t>
            </a:r>
            <a:endParaRPr lang="en-US" sz="1500" dirty="0"/>
          </a:p>
        </p:txBody>
      </p:sp>
      <p:sp>
        <p:nvSpPr>
          <p:cNvPr id="33" name="Text 24"/>
          <p:cNvSpPr txBox="1"/>
          <p:nvPr/>
        </p:nvSpPr>
        <p:spPr>
          <a:xfrm>
            <a:off x="7223760" y="331927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SLA-based escalation ensures no critical alert goes unacknowledged.</a:t>
            </a:r>
            <a:endParaRPr lang="en-US" sz="1250" dirty="0"/>
          </a:p>
        </p:txBody>
      </p:sp>
      <p:sp>
        <p:nvSpPr>
          <p:cNvPr id="34" name="Shape 25"/>
          <p:cNvSpPr/>
          <p:nvPr/>
        </p:nvSpPr>
        <p:spPr>
          <a:xfrm>
            <a:off x="6629400" y="4041648"/>
            <a:ext cx="438912" cy="438912"/>
          </a:xfrm>
          <a:prstGeom prst="ellipse">
            <a:avLst/>
          </a:prstGeom>
          <a:solidFill>
            <a:srgbClr val="FDEEE9"/>
          </a:solidFill>
          <a:ln/>
        </p:spPr>
      </p:sp>
      <p:pic>
        <p:nvPicPr>
          <p:cNvPr id="35" name="Image 7" descr="/home/claude/icons/lock_FF4C29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9984" y="4142232"/>
            <a:ext cx="237744" cy="237744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7223760" y="39959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 Compliance</a:t>
            </a:r>
            <a:endParaRPr lang="en-US" sz="1500" dirty="0"/>
          </a:p>
        </p:txBody>
      </p:sp>
      <p:sp>
        <p:nvSpPr>
          <p:cNvPr id="37" name="Text 27"/>
          <p:cNvSpPr txBox="1"/>
          <p:nvPr/>
        </p:nvSpPr>
        <p:spPr>
          <a:xfrm>
            <a:off x="7223760" y="437083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CID footprint prevents record alteration or erasure.</a:t>
            </a:r>
            <a:endParaRPr lang="en-US" sz="1250" dirty="0"/>
          </a:p>
        </p:txBody>
      </p:sp>
      <p:sp>
        <p:nvSpPr>
          <p:cNvPr id="38" name="Shape 28"/>
          <p:cNvSpPr/>
          <p:nvPr/>
        </p:nvSpPr>
        <p:spPr>
          <a:xfrm>
            <a:off x="6629400" y="5093208"/>
            <a:ext cx="438912" cy="438912"/>
          </a:xfrm>
          <a:prstGeom prst="ellipse">
            <a:avLst/>
          </a:prstGeom>
          <a:solidFill>
            <a:srgbClr val="FDEEE9"/>
          </a:solidFill>
          <a:ln/>
        </p:spPr>
      </p:sp>
      <p:pic>
        <p:nvPicPr>
          <p:cNvPr id="39" name="Image 8" descr="/home/claude/icons/handshake_FF4C29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9984" y="5193792"/>
            <a:ext cx="237744" cy="237744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7223760" y="50474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&amp; Insurance Trust</a:t>
            </a:r>
            <a:endParaRPr lang="en-US" sz="1500" dirty="0"/>
          </a:p>
        </p:txBody>
      </p:sp>
      <p:sp>
        <p:nvSpPr>
          <p:cNvPr id="41" name="Text 30"/>
          <p:cNvSpPr txBox="1"/>
          <p:nvPr/>
        </p:nvSpPr>
        <p:spPr>
          <a:xfrm>
            <a:off x="7223760" y="542239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audit trail supports transparent claims and audits.</a:t>
            </a:r>
            <a:endParaRPr lang="en-US" sz="1250" dirty="0"/>
          </a:p>
        </p:txBody>
      </p:sp>
      <p:sp>
        <p:nvSpPr>
          <p:cNvPr id="42" name="Text 31"/>
          <p:cNvSpPr txBox="1"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AcciSense  |  Team Runtime Terror</a:t>
            </a:r>
            <a:endParaRPr lang="en-US" sz="1100" dirty="0"/>
          </a:p>
        </p:txBody>
      </p:sp>
      <p:sp>
        <p:nvSpPr>
          <p:cNvPr id="43" name="Text 32"/>
          <p:cNvSpPr txBox="1"/>
          <p:nvPr/>
        </p:nvSpPr>
        <p:spPr>
          <a:xfrm>
            <a:off x="1127729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ROADMAP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Deployment — Delivery Partner Network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FF4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WILL WORK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440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for post-MVP rollout: AcciSense integrates with delivery-partner apps like Blinkit so alerts reach nearby riders directly — no new app, no fresh permissions, and no cash incentive needed to participate.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1261872" cy="109728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</p:spPr>
      </p:sp>
      <p:pic>
        <p:nvPicPr>
          <p:cNvPr id="7" name="Image 0" descr="/home/claude/icons/smartphon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3374136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94360" y="372160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783080" y="3721608"/>
            <a:ext cx="201168" cy="146304"/>
          </a:xfrm>
          <a:prstGeom prst="rightArrow">
            <a:avLst/>
          </a:prstGeom>
          <a:solidFill>
            <a:srgbClr val="8892A8"/>
          </a:solidFill>
          <a:ln/>
        </p:spPr>
      </p:sp>
      <p:sp>
        <p:nvSpPr>
          <p:cNvPr id="10" name="Shape 7"/>
          <p:cNvSpPr/>
          <p:nvPr/>
        </p:nvSpPr>
        <p:spPr>
          <a:xfrm>
            <a:off x="1938528" y="3246120"/>
            <a:ext cx="1261872" cy="109728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</p:spPr>
      </p:sp>
      <p:pic>
        <p:nvPicPr>
          <p:cNvPr id="11" name="Image 1" descr="/home/claude/icons/mappin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337413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84248" y="372160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172968" y="3721608"/>
            <a:ext cx="201168" cy="146304"/>
          </a:xfrm>
          <a:prstGeom prst="rightArrow">
            <a:avLst/>
          </a:prstGeom>
          <a:solidFill>
            <a:srgbClr val="8892A8"/>
          </a:solidFill>
          <a:ln/>
        </p:spPr>
      </p:sp>
      <p:sp>
        <p:nvSpPr>
          <p:cNvPr id="14" name="Shape 10"/>
          <p:cNvSpPr/>
          <p:nvPr/>
        </p:nvSpPr>
        <p:spPr>
          <a:xfrm>
            <a:off x="3328416" y="3246120"/>
            <a:ext cx="1261872" cy="1097280"/>
          </a:xfrm>
          <a:prstGeom prst="roundRect">
            <a:avLst>
              <a:gd name="adj" fmla="val 5000"/>
            </a:avLst>
          </a:prstGeom>
          <a:solidFill>
            <a:srgbClr val="FF4C29"/>
          </a:solidFill>
          <a:ln/>
        </p:spPr>
      </p:sp>
      <p:pic>
        <p:nvPicPr>
          <p:cNvPr id="15" name="Image 2" descr="/home/claude/icons/bell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048" y="337413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374136" y="372160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562856" y="3721608"/>
            <a:ext cx="201168" cy="146304"/>
          </a:xfrm>
          <a:prstGeom prst="rightArrow">
            <a:avLst/>
          </a:prstGeom>
          <a:solidFill>
            <a:srgbClr val="8892A8"/>
          </a:solidFill>
          <a:ln/>
        </p:spPr>
      </p:sp>
      <p:sp>
        <p:nvSpPr>
          <p:cNvPr id="18" name="Shape 13"/>
          <p:cNvSpPr/>
          <p:nvPr/>
        </p:nvSpPr>
        <p:spPr>
          <a:xfrm>
            <a:off x="4718304" y="3246120"/>
            <a:ext cx="1261872" cy="109728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</p:spPr>
      </p:sp>
      <p:pic>
        <p:nvPicPr>
          <p:cNvPr id="19" name="Image 3" descr="/home/claude/icons/checkcircl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2936" y="3374136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764024" y="372160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48640" y="4709160"/>
            <a:ext cx="54406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pic>
        <p:nvPicPr>
          <p:cNvPr id="22" name="Image 4" descr="/home/claude/icons/shield_FF4C2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937760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325880" y="4828032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Zero-effort by design.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Confirming presence is a single tap on location data the partner app already has — no detour, no physical intervention, and nothing to game since there's no payout.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355080" y="1508760"/>
            <a:ext cx="0" cy="461772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662940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FF4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SAFE &amp; SUSTAINABLE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629400" y="1938528"/>
            <a:ext cx="438912" cy="438912"/>
          </a:xfrm>
          <a:prstGeom prst="ellipse">
            <a:avLst/>
          </a:prstGeom>
          <a:solidFill>
            <a:srgbClr val="FDEEE9"/>
          </a:solidFill>
          <a:ln/>
        </p:spPr>
      </p:sp>
      <p:pic>
        <p:nvPicPr>
          <p:cNvPr id="27" name="Image 5" descr="/home/claude/icons/bolt_FF4C2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9984" y="2039112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223760" y="18928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On-Ground Help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7223760" y="226771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partners can confirm presence within minutes, shrinking the gap before official responders arrive.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6629400" y="2990088"/>
            <a:ext cx="438912" cy="438912"/>
          </a:xfrm>
          <a:prstGeom prst="ellipse">
            <a:avLst/>
          </a:prstGeom>
          <a:solidFill>
            <a:srgbClr val="FDEEE9"/>
          </a:solidFill>
          <a:ln/>
        </p:spPr>
      </p:sp>
      <p:pic>
        <p:nvPicPr>
          <p:cNvPr id="31" name="Image 6" descr="/home/claude/icons/shield_FF4C29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9984" y="3090672"/>
            <a:ext cx="237744" cy="237744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7223760" y="29443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Fraud-Resistant by Design</a:t>
            </a:r>
            <a:endParaRPr lang="en-US" sz="1500" dirty="0"/>
          </a:p>
        </p:txBody>
      </p:sp>
      <p:sp>
        <p:nvSpPr>
          <p:cNvPr id="33" name="Text 24"/>
          <p:cNvSpPr txBox="1"/>
          <p:nvPr/>
        </p:nvSpPr>
        <p:spPr>
          <a:xfrm>
            <a:off x="7223760" y="331927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is confirmed via GPS match to the incident, not self-reported claims, so it can't be gamed.</a:t>
            </a:r>
            <a:endParaRPr lang="en-US" sz="1250" dirty="0"/>
          </a:p>
        </p:txBody>
      </p:sp>
      <p:sp>
        <p:nvSpPr>
          <p:cNvPr id="34" name="Shape 25"/>
          <p:cNvSpPr/>
          <p:nvPr/>
        </p:nvSpPr>
        <p:spPr>
          <a:xfrm>
            <a:off x="6629400" y="4041648"/>
            <a:ext cx="438912" cy="438912"/>
          </a:xfrm>
          <a:prstGeom prst="ellipse">
            <a:avLst/>
          </a:prstGeom>
          <a:solidFill>
            <a:srgbClr val="FDEEE9"/>
          </a:solidFill>
          <a:ln/>
        </p:spPr>
      </p:sp>
      <p:pic>
        <p:nvPicPr>
          <p:cNvPr id="35" name="Image 7" descr="/home/claude/icons/usercheck_FF4C29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9984" y="4142232"/>
            <a:ext cx="237744" cy="237744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7223760" y="39959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Has a Human Fallback</a:t>
            </a:r>
            <a:endParaRPr lang="en-US" sz="1500" dirty="0"/>
          </a:p>
        </p:txBody>
      </p:sp>
      <p:sp>
        <p:nvSpPr>
          <p:cNvPr id="37" name="Text 27"/>
          <p:cNvSpPr txBox="1"/>
          <p:nvPr/>
        </p:nvSpPr>
        <p:spPr>
          <a:xfrm>
            <a:off x="7223760" y="437083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signal below the AI's confidence threshold routes to a human operator — never silently auto-closed.</a:t>
            </a:r>
            <a:endParaRPr lang="en-US" sz="1250" dirty="0"/>
          </a:p>
        </p:txBody>
      </p:sp>
      <p:sp>
        <p:nvSpPr>
          <p:cNvPr id="38" name="Shape 28"/>
          <p:cNvSpPr/>
          <p:nvPr/>
        </p:nvSpPr>
        <p:spPr>
          <a:xfrm>
            <a:off x="6629400" y="5093208"/>
            <a:ext cx="438912" cy="438912"/>
          </a:xfrm>
          <a:prstGeom prst="ellipse">
            <a:avLst/>
          </a:prstGeom>
          <a:solidFill>
            <a:srgbClr val="FDEEE9"/>
          </a:solidFill>
          <a:ln/>
        </p:spPr>
      </p:sp>
      <p:pic>
        <p:nvPicPr>
          <p:cNvPr id="39" name="Image 8" descr="/home/claude/icons/handshake_FF4C29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9984" y="5193792"/>
            <a:ext cx="237744" cy="237744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7223760" y="50474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Safety Net</a:t>
            </a:r>
            <a:endParaRPr lang="en-US" sz="1500" dirty="0"/>
          </a:p>
        </p:txBody>
      </p:sp>
      <p:sp>
        <p:nvSpPr>
          <p:cNvPr id="41" name="Text 30"/>
          <p:cNvSpPr txBox="1"/>
          <p:nvPr/>
        </p:nvSpPr>
        <p:spPr>
          <a:xfrm>
            <a:off x="7223760" y="542239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verified response adds to a trusted, tamper-proof record — building civic trust over time.</a:t>
            </a:r>
            <a:endParaRPr lang="en-US" sz="1250" dirty="0"/>
          </a:p>
        </p:txBody>
      </p:sp>
      <p:sp>
        <p:nvSpPr>
          <p:cNvPr id="42" name="Text 31"/>
          <p:cNvSpPr txBox="1"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AcciSense  |  Team Runtime Terror</a:t>
            </a:r>
            <a:endParaRPr lang="en-US" sz="1100" dirty="0"/>
          </a:p>
        </p:txBody>
      </p:sp>
      <p:sp>
        <p:nvSpPr>
          <p:cNvPr id="43" name="Text 32"/>
          <p:cNvSpPr txBox="1"/>
          <p:nvPr/>
        </p:nvSpPr>
        <p:spPr>
          <a:xfrm>
            <a:off x="1127729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2026-09-10T20:33:44Z</dcterms:created>
  <dcterms:modified xsi:type="dcterms:W3CDTF">2026-09-10T20:33:44Z</dcterms:modified>
</cp:coreProperties>
</file>